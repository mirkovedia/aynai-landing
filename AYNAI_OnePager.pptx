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rts/chart1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"/>
  </p:notesMasterIdLst>
  <p:sldIdLst>
    <p:sldId id="256" r:id="rId2"/>
  </p:sldIdLst>
  <p:sldSz cx="7562850" cy="10688638"/>
  <p:notesSz cx="10688638" cy="756285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>
        <p:scale>
          <a:sx n="75" d="100"/>
          <a:sy n="75" d="100"/>
        </p:scale>
        <p:origin x="2040" y="-68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Mercado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007A3D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1-11AE-4DA8-BD0F-AD2F294A7A6E}"/>
              </c:ext>
            </c:extLst>
          </c:dPt>
          <c:dPt>
            <c:idx val="1"/>
            <c:bubble3D val="0"/>
            <c:spPr>
              <a:solidFill>
                <a:srgbClr val="F4C430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3-11AE-4DA8-BD0F-AD2F294A7A6E}"/>
              </c:ext>
            </c:extLst>
          </c:dPt>
          <c:dPt>
            <c:idx val="2"/>
            <c:bubble3D val="0"/>
            <c:spPr>
              <a:solidFill>
                <a:srgbClr val="D9C9B5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5-11AE-4DA8-BD0F-AD2F294A7A6E}"/>
              </c:ext>
            </c:extLst>
          </c:dPt>
          <c:dPt>
            <c:idx val="3"/>
            <c:bubble3D val="0"/>
            <c:spPr>
              <a:solidFill>
                <a:srgbClr val="4472C4"/>
              </a:solidFill>
              <a:ln w="12700" cap="flat">
                <a:solidFill>
                  <a:srgbClr val="FFFFFF"/>
                </a:solidFill>
                <a:prstDash val="solid"/>
                <a:round/>
              </a:ln>
              <a:effectLst/>
            </c:spPr>
            <c:extLst>
              <c:ext xmlns:c16="http://schemas.microsoft.com/office/drawing/2014/chart" uri="{C3380CC4-5D6E-409C-BE32-E72D297353CC}">
                <c16:uniqueId val="{00000007-073E-4E7F-B65F-D01D5BA92194}"/>
              </c:ext>
            </c:extLst>
          </c:dPt>
          <c:cat>
            <c:strRef>
              <c:f>Sheet1!$A$2:$A$5</c:f>
              <c:strCache>
                <c:ptCount val="4"/>
                <c:pt idx="0">
                  <c:v>Resto TAM</c:v>
                </c:pt>
                <c:pt idx="1">
                  <c:v>SAM</c:v>
                </c:pt>
                <c:pt idx="2">
                  <c:v>SOM</c:v>
                </c:pt>
                <c:pt idx="3">
                  <c:v>MVM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850</c:v>
                </c:pt>
                <c:pt idx="1">
                  <c:v>480</c:v>
                </c:pt>
                <c:pt idx="2">
                  <c:v>320</c:v>
                </c:pt>
                <c:pt idx="3">
                  <c:v>150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6-11AE-4DA8-BD0F-AD2F294A7A6E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  <c:holeSize val="55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700">
              <a:solidFill>
                <a:srgbClr val="5C3D2E"/>
              </a:solidFill>
            </a:defRPr>
          </a:pPr>
          <a:endParaRPr lang="es-ES"/>
        </a:p>
      </c:txPr>
    </c:legend>
    <c:plotVisOnly val="1"/>
    <c:dispBlanksAs val="span"/>
    <c:showDLblsOverMax val="1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59029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png"/><Relationship Id="rId13" Type="http://schemas.openxmlformats.org/officeDocument/2006/relationships/image" Target="../media/image7.jpeg"/><Relationship Id="rId3" Type="http://schemas.openxmlformats.org/officeDocument/2006/relationships/hyperlink" Target="https://aynai-app.vercel.app/" TargetMode="External"/><Relationship Id="rId7" Type="http://schemas.openxmlformats.org/officeDocument/2006/relationships/image" Target="../media/image2.png"/><Relationship Id="rId12" Type="http://schemas.openxmlformats.org/officeDocument/2006/relationships/image" Target="../media/image6.png"/><Relationship Id="rId17" Type="http://schemas.openxmlformats.org/officeDocument/2006/relationships/image" Target="../media/image11.jpeg"/><Relationship Id="rId2" Type="http://schemas.openxmlformats.org/officeDocument/2006/relationships/notesSlide" Target="../notesSlides/notesSlide1.xml"/><Relationship Id="rId16" Type="http://schemas.openxmlformats.org/officeDocument/2006/relationships/image" Target="../media/image10.jpe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.png"/><Relationship Id="rId11" Type="http://schemas.openxmlformats.org/officeDocument/2006/relationships/image" Target="../media/image5.png"/><Relationship Id="rId5" Type="http://schemas.openxmlformats.org/officeDocument/2006/relationships/hyperlink" Target="https://drive.google.com/file/d/1j8hG7PQMphFNb97GxzPqGcjAmri-jXwg/view?usp=sharing" TargetMode="External"/><Relationship Id="rId15" Type="http://schemas.openxmlformats.org/officeDocument/2006/relationships/image" Target="../media/image9.jpeg"/><Relationship Id="rId10" Type="http://schemas.openxmlformats.org/officeDocument/2006/relationships/chart" Target="../charts/chart1.xml"/><Relationship Id="rId4" Type="http://schemas.openxmlformats.org/officeDocument/2006/relationships/hyperlink" Target="https://github.com/mirkovedia/aynai-landing" TargetMode="External"/><Relationship Id="rId9" Type="http://schemas.openxmlformats.org/officeDocument/2006/relationships/image" Target="../media/image4.png"/><Relationship Id="rId14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144" y="164592"/>
            <a:ext cx="2514600" cy="10689336"/>
          </a:xfrm>
          <a:prstGeom prst="rect">
            <a:avLst/>
          </a:prstGeom>
          <a:solidFill>
            <a:srgbClr val="F9F5EE"/>
          </a:solidFill>
          <a:ln/>
        </p:spPr>
        <p:txBody>
          <a:bodyPr/>
          <a:lstStyle/>
          <a:p>
            <a:endParaRPr lang="es-ES" dirty="0"/>
          </a:p>
        </p:txBody>
      </p:sp>
      <p:sp>
        <p:nvSpPr>
          <p:cNvPr id="4" name="Text 1"/>
          <p:cNvSpPr/>
          <p:nvPr/>
        </p:nvSpPr>
        <p:spPr>
          <a:xfrm>
            <a:off x="228600" y="1463040"/>
            <a:ext cx="2103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</a:rPr>
              <a:t>AYNAI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228600" y="1737360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850" i="1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de habilidades</a:t>
            </a:r>
            <a:endParaRPr lang="en-US" sz="850" dirty="0"/>
          </a:p>
        </p:txBody>
      </p:sp>
      <p:sp>
        <p:nvSpPr>
          <p:cNvPr id="6" name="Text 3"/>
          <p:cNvSpPr/>
          <p:nvPr/>
        </p:nvSpPr>
        <p:spPr>
          <a:xfrm>
            <a:off x="228600" y="2057400"/>
            <a:ext cx="21031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kern="0" spc="100" dirty="0">
                <a:solidFill>
                  <a:srgbClr val="D5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PERFIL</a:t>
            </a:r>
            <a:endParaRPr lang="en-US" sz="1100" dirty="0"/>
          </a:p>
        </p:txBody>
      </p:sp>
      <p:sp>
        <p:nvSpPr>
          <p:cNvPr id="7" name="Text 4"/>
          <p:cNvSpPr/>
          <p:nvPr/>
        </p:nvSpPr>
        <p:spPr>
          <a:xfrm>
            <a:off x="228600" y="233172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Sector: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Economía colab. / ICT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228600" y="2555748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 web/móvil</a:t>
            </a:r>
            <a:endParaRPr lang="en-US" sz="850" dirty="0"/>
          </a:p>
        </p:txBody>
      </p:sp>
      <p:sp>
        <p:nvSpPr>
          <p:cNvPr id="9" name="Text 6"/>
          <p:cNvSpPr/>
          <p:nvPr/>
        </p:nvSpPr>
        <p:spPr>
          <a:xfrm>
            <a:off x="228600" y="277977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Fundación: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</a:t>
            </a:r>
            <a:endParaRPr lang="en-US" sz="850" dirty="0"/>
          </a:p>
        </p:txBody>
      </p:sp>
      <p:sp>
        <p:nvSpPr>
          <p:cNvPr id="10" name="Text 7"/>
          <p:cNvSpPr/>
          <p:nvPr/>
        </p:nvSpPr>
        <p:spPr>
          <a:xfrm>
            <a:off x="228600" y="300380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Equipo: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personas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228600" y="3227832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Ingreso proy.: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 / mes (piloto)</a:t>
            </a:r>
            <a:endParaRPr lang="en-US" sz="850" dirty="0"/>
          </a:p>
        </p:txBody>
      </p:sp>
      <p:sp>
        <p:nvSpPr>
          <p:cNvPr id="12" name="Text 9"/>
          <p:cNvSpPr/>
          <p:nvPr/>
        </p:nvSpPr>
        <p:spPr>
          <a:xfrm>
            <a:off x="228600" y="3451860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Gasto neto: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$45 / mes (hosting)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228600" y="3675888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Capital: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$300 (dominio + marketing)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228600" y="3899916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por talento</a:t>
            </a:r>
            <a:endParaRPr lang="en-US" sz="850" dirty="0"/>
          </a:p>
        </p:txBody>
      </p:sp>
      <p:sp>
        <p:nvSpPr>
          <p:cNvPr id="15" name="Text 12"/>
          <p:cNvSpPr/>
          <p:nvPr/>
        </p:nvSpPr>
        <p:spPr>
          <a:xfrm>
            <a:off x="228600" y="4123944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Intensidad: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Alta</a:t>
            </a:r>
            <a:endParaRPr lang="en-US" sz="850" dirty="0"/>
          </a:p>
        </p:txBody>
      </p:sp>
      <p:sp>
        <p:nvSpPr>
          <p:cNvPr id="16" name="Text 13"/>
          <p:cNvSpPr/>
          <p:nvPr/>
        </p:nvSpPr>
        <p:spPr>
          <a:xfrm>
            <a:off x="228600" y="4347972"/>
            <a:ext cx="214884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Innovación: </a:t>
            </a: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+ reputación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228600" y="464515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5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MÉTRICAS DEL SUPUESTO</a:t>
            </a:r>
            <a:endParaRPr lang="en-US" sz="950" dirty="0"/>
          </a:p>
        </p:txBody>
      </p:sp>
      <p:sp>
        <p:nvSpPr>
          <p:cNvPr id="18" name="Text 15"/>
          <p:cNvSpPr/>
          <p:nvPr/>
        </p:nvSpPr>
        <p:spPr>
          <a:xfrm>
            <a:off x="228600" y="4901184"/>
            <a:ext cx="2148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CAC: </a:t>
            </a:r>
            <a:r>
              <a:rPr lang="en-US" sz="950" b="1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 USD / MES   </a:t>
            </a:r>
            <a:br>
              <a:rPr lang="en-US" sz="950" b="1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950" b="1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9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LTV: </a:t>
            </a:r>
            <a:r>
              <a:rPr lang="en-US" sz="950" b="1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USD / POR 6 MESES</a:t>
            </a:r>
            <a:endParaRPr lang="en-US" sz="950" dirty="0"/>
          </a:p>
        </p:txBody>
      </p:sp>
      <p:sp>
        <p:nvSpPr>
          <p:cNvPr id="19" name="Text 16"/>
          <p:cNvSpPr/>
          <p:nvPr/>
        </p:nvSpPr>
        <p:spPr>
          <a:xfrm>
            <a:off x="228600" y="5248656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5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ENLACES</a:t>
            </a:r>
            <a:endParaRPr lang="en-US" sz="950" dirty="0"/>
          </a:p>
        </p:txBody>
      </p:sp>
      <p:sp>
        <p:nvSpPr>
          <p:cNvPr id="20" name="Text 17"/>
          <p:cNvSpPr/>
          <p:nvPr/>
        </p:nvSpPr>
        <p:spPr>
          <a:xfrm>
            <a:off x="192024" y="5509260"/>
            <a:ext cx="23774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Site</a:t>
            </a:r>
            <a:r>
              <a:rPr lang="en-US" sz="820" b="1" dirty="0">
                <a:solidFill>
                  <a:srgbClr val="954F72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 </a:t>
            </a:r>
            <a:r>
              <a:rPr lang="en-US" sz="820" b="1" dirty="0">
                <a:latin typeface="Calibri" pitchFamily="34" charset="0"/>
                <a:ea typeface="Calibri" pitchFamily="34" charset="-122"/>
                <a:cs typeface="Calibri" pitchFamily="34" charset="-120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Web</a:t>
            </a:r>
            <a:r>
              <a:rPr lang="en-US" sz="82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8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https://aynai-app.vercel.app/login     </a:t>
            </a:r>
            <a:endParaRPr lang="en-US" sz="820" dirty="0"/>
          </a:p>
        </p:txBody>
      </p:sp>
      <p:sp>
        <p:nvSpPr>
          <p:cNvPr id="21" name="Text 18"/>
          <p:cNvSpPr/>
          <p:nvPr/>
        </p:nvSpPr>
        <p:spPr>
          <a:xfrm>
            <a:off x="182880" y="5695468"/>
            <a:ext cx="23070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GitHub</a:t>
            </a: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s-ES" sz="800" dirty="0"/>
              <a:t>https://github.com/mirkovedia/aynai-landing</a:t>
            </a:r>
            <a:r>
              <a:rPr lang="en-US" sz="8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endParaRPr lang="es-ES" sz="800" dirty="0"/>
          </a:p>
          <a:p>
            <a:pPr marL="0" indent="0">
              <a:buNone/>
            </a:pPr>
            <a:endParaRPr lang="en-US" sz="800" dirty="0"/>
          </a:p>
        </p:txBody>
      </p:sp>
      <p:sp>
        <p:nvSpPr>
          <p:cNvPr id="22" name="Text 19"/>
          <p:cNvSpPr/>
          <p:nvPr/>
        </p:nvSpPr>
        <p:spPr>
          <a:xfrm>
            <a:off x="188840" y="5816163"/>
            <a:ext cx="2115448" cy="33575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20" b="1" dirty="0">
                <a:latin typeface="Calibri" pitchFamily="34" charset="0"/>
                <a:ea typeface="Calibri" pitchFamily="34" charset="-122"/>
                <a:cs typeface="Calibri" pitchFamily="34" charset="-12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PITCH</a:t>
            </a:r>
            <a:r>
              <a:rPr lang="en-US" sz="82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: </a:t>
            </a:r>
            <a:r>
              <a:rPr lang="en-US" sz="82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https://drive.google.com/file/d/1j8hG7PQMphFNb97GxzPqGcjAmri-jXwg/view?usp=sharing</a:t>
            </a:r>
            <a:endParaRPr lang="en-US" sz="820" dirty="0"/>
          </a:p>
        </p:txBody>
      </p:sp>
      <p:sp>
        <p:nvSpPr>
          <p:cNvPr id="24" name="Text 21"/>
          <p:cNvSpPr/>
          <p:nvPr/>
        </p:nvSpPr>
        <p:spPr>
          <a:xfrm>
            <a:off x="116332" y="6272784"/>
            <a:ext cx="196596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F4C43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Viable Mínimo (PVM)</a:t>
            </a:r>
            <a:endParaRPr lang="en-US" sz="950" dirty="0"/>
          </a:p>
        </p:txBody>
      </p:sp>
      <p:sp>
        <p:nvSpPr>
          <p:cNvPr id="26" name="Text 23"/>
          <p:cNvSpPr/>
          <p:nvPr/>
        </p:nvSpPr>
        <p:spPr>
          <a:xfrm>
            <a:off x="228600" y="743407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5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EQUIPO</a:t>
            </a:r>
            <a:endParaRPr lang="en-US" sz="950" dirty="0"/>
          </a:p>
        </p:txBody>
      </p:sp>
      <p:sp>
        <p:nvSpPr>
          <p:cNvPr id="29" name="Text 25"/>
          <p:cNvSpPr/>
          <p:nvPr/>
        </p:nvSpPr>
        <p:spPr>
          <a:xfrm>
            <a:off x="539496" y="7644384"/>
            <a:ext cx="191109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Mirko Barón Vedia</a:t>
            </a:r>
            <a:endParaRPr lang="en-US" sz="900" dirty="0"/>
          </a:p>
        </p:txBody>
      </p:sp>
      <p:sp>
        <p:nvSpPr>
          <p:cNvPr id="30" name="Text 26"/>
          <p:cNvSpPr/>
          <p:nvPr/>
        </p:nvSpPr>
        <p:spPr>
          <a:xfrm>
            <a:off x="621792" y="78638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Founder · Ing. Sistemas</a:t>
            </a:r>
            <a:endParaRPr lang="en-US" sz="750" dirty="0"/>
          </a:p>
        </p:txBody>
      </p:sp>
      <p:sp>
        <p:nvSpPr>
          <p:cNvPr id="33" name="Text 28"/>
          <p:cNvSpPr/>
          <p:nvPr/>
        </p:nvSpPr>
        <p:spPr>
          <a:xfrm>
            <a:off x="550728" y="8119872"/>
            <a:ext cx="189986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Pablo Pizarro Justiniano</a:t>
            </a:r>
            <a:endParaRPr lang="en-US" sz="900" dirty="0"/>
          </a:p>
        </p:txBody>
      </p:sp>
      <p:sp>
        <p:nvSpPr>
          <p:cNvPr id="34" name="Text 29"/>
          <p:cNvSpPr/>
          <p:nvPr/>
        </p:nvSpPr>
        <p:spPr>
          <a:xfrm>
            <a:off x="621792" y="83210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 · Ing. Mecánica</a:t>
            </a:r>
            <a:endParaRPr lang="en-US" sz="750" dirty="0"/>
          </a:p>
        </p:txBody>
      </p:sp>
      <p:sp>
        <p:nvSpPr>
          <p:cNvPr id="37" name="Text 31"/>
          <p:cNvSpPr/>
          <p:nvPr/>
        </p:nvSpPr>
        <p:spPr>
          <a:xfrm>
            <a:off x="585216" y="8595360"/>
            <a:ext cx="18653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Marian Fernanda Freitas Montenegro</a:t>
            </a:r>
            <a:endParaRPr lang="en-US" sz="900" dirty="0"/>
          </a:p>
        </p:txBody>
      </p:sp>
      <p:sp>
        <p:nvSpPr>
          <p:cNvPr id="38" name="Text 32"/>
          <p:cNvSpPr/>
          <p:nvPr/>
        </p:nvSpPr>
        <p:spPr>
          <a:xfrm>
            <a:off x="621792" y="8778240"/>
            <a:ext cx="18288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CoFounder · Ing. Industrial</a:t>
            </a:r>
            <a:endParaRPr lang="en-US" sz="750" dirty="0"/>
          </a:p>
        </p:txBody>
      </p:sp>
      <p:sp>
        <p:nvSpPr>
          <p:cNvPr id="39" name="Text 33"/>
          <p:cNvSpPr/>
          <p:nvPr/>
        </p:nvSpPr>
        <p:spPr>
          <a:xfrm>
            <a:off x="228600" y="9171432"/>
            <a:ext cx="21031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D52B1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CONTACTO</a:t>
            </a:r>
            <a:endParaRPr lang="en-US" sz="950" dirty="0"/>
          </a:p>
        </p:txBody>
      </p:sp>
      <p:sp>
        <p:nvSpPr>
          <p:cNvPr id="40" name="Text 34"/>
          <p:cNvSpPr/>
          <p:nvPr/>
        </p:nvSpPr>
        <p:spPr>
          <a:xfrm>
            <a:off x="228600" y="9427464"/>
            <a:ext cx="214884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baronvedia@gmail.com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+591 67770433</a:t>
            </a:r>
            <a:endParaRPr lang="en-US" sz="850" dirty="0"/>
          </a:p>
          <a:p>
            <a:pPr marL="0" indent="0">
              <a:lnSpc>
                <a:spcPct val="120000"/>
              </a:lnSpc>
              <a:buNone/>
            </a:pPr>
            <a:r>
              <a:rPr lang="en-US" sz="8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aynai-app.vercel.app</a:t>
            </a:r>
            <a:endParaRPr lang="en-US" sz="850" dirty="0"/>
          </a:p>
        </p:txBody>
      </p:sp>
      <p:sp>
        <p:nvSpPr>
          <p:cNvPr id="41" name="Text 35"/>
          <p:cNvSpPr/>
          <p:nvPr/>
        </p:nvSpPr>
        <p:spPr>
          <a:xfrm>
            <a:off x="2788920" y="320040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6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AynAI: donde tu talento vale y tu reputación te pertenece — la red donde colaborar te hace crecer.</a:t>
            </a:r>
            <a:endParaRPr lang="en-US" sz="1600" dirty="0"/>
          </a:p>
        </p:txBody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788920" y="1417320"/>
            <a:ext cx="274320" cy="274320"/>
          </a:xfrm>
          <a:prstGeom prst="rect">
            <a:avLst/>
          </a:prstGeom>
        </p:spPr>
      </p:pic>
      <p:sp>
        <p:nvSpPr>
          <p:cNvPr id="43" name="Text 36"/>
          <p:cNvSpPr/>
          <p:nvPr/>
        </p:nvSpPr>
        <p:spPr>
          <a:xfrm>
            <a:off x="3172968" y="1399032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Problema</a:t>
            </a:r>
            <a:endParaRPr lang="en-US" sz="1400" dirty="0"/>
          </a:p>
        </p:txBody>
      </p:sp>
      <p:sp>
        <p:nvSpPr>
          <p:cNvPr id="44" name="Text 37"/>
          <p:cNvSpPr/>
          <p:nvPr/>
        </p:nvSpPr>
        <p:spPr>
          <a:xfrm>
            <a:off x="2788920" y="1801368"/>
            <a:ext cx="4572000" cy="7772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Millones de personas tienen habilidades valiosas pero no liquidez para acceder a lo que necesitan. El sistema tradicional excluye a quien no tiene capital inmediato, y la reputación en las plataformas actuales es manipulable.</a:t>
            </a:r>
            <a:endParaRPr lang="en-US" sz="1050" dirty="0"/>
          </a:p>
        </p:txBody>
      </p:sp>
      <p:pic>
        <p:nvPicPr>
          <p:cNvPr id="45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788920" y="2670048"/>
            <a:ext cx="274320" cy="274320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3172968" y="2651760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Solución</a:t>
            </a:r>
            <a:endParaRPr lang="en-US" sz="1400" dirty="0"/>
          </a:p>
        </p:txBody>
      </p:sp>
      <p:sp>
        <p:nvSpPr>
          <p:cNvPr id="47" name="Text 39"/>
          <p:cNvSpPr/>
          <p:nvPr/>
        </p:nvSpPr>
        <p:spPr>
          <a:xfrm>
            <a:off x="2788920" y="3054096"/>
            <a:ext cx="457200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marketplace donde la moneda es el talento. Los usuarios intercambian servicios y construyen el AynAI Score: una reputación verificable registrada en blockchain que les pertenece y nadie puede falsificar. Un algoritmo propio conecta oferta y demanda de forma inteligente.</a:t>
            </a:r>
            <a:endParaRPr lang="en-US" sz="1050" dirty="0"/>
          </a:p>
        </p:txBody>
      </p:sp>
      <p:pic>
        <p:nvPicPr>
          <p:cNvPr id="48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9464" y="4064508"/>
            <a:ext cx="274320" cy="274320"/>
          </a:xfrm>
          <a:prstGeom prst="rect">
            <a:avLst/>
          </a:prstGeom>
        </p:spPr>
      </p:pic>
      <p:sp>
        <p:nvSpPr>
          <p:cNvPr id="49" name="Text 40"/>
          <p:cNvSpPr/>
          <p:nvPr/>
        </p:nvSpPr>
        <p:spPr>
          <a:xfrm>
            <a:off x="2926080" y="4052695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Producto / Servicio (P/S)</a:t>
            </a:r>
            <a:endParaRPr lang="en-US" sz="1400" dirty="0"/>
          </a:p>
        </p:txBody>
      </p:sp>
      <p:sp>
        <p:nvSpPr>
          <p:cNvPr id="50" name="Text 41"/>
          <p:cNvSpPr/>
          <p:nvPr/>
        </p:nvSpPr>
        <p:spPr>
          <a:xfrm>
            <a:off x="2545080" y="4370832"/>
            <a:ext cx="448056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Matching por algoritmo que conecta habilidades.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AynAI Score: reputación on-chain no manipulable.</a:t>
            </a:r>
            <a:endParaRPr lang="en-US" sz="1000" dirty="0"/>
          </a:p>
          <a:p>
            <a:pPr marL="152400" indent="-152400">
              <a:spcAft>
                <a:spcPts val="400"/>
              </a:spcAft>
              <a:buSzPct val="100000"/>
              <a:buChar char="•"/>
            </a:pPr>
            <a:r>
              <a:rPr lang="en-US" sz="100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Intercambio con o sin dinero, vos decidís.</a:t>
            </a:r>
            <a:endParaRPr lang="en-US" sz="1000" dirty="0"/>
          </a:p>
        </p:txBody>
      </p:sp>
      <p:pic>
        <p:nvPicPr>
          <p:cNvPr id="51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788920" y="5312664"/>
            <a:ext cx="274320" cy="274320"/>
          </a:xfrm>
          <a:prstGeom prst="rect">
            <a:avLst/>
          </a:prstGeom>
        </p:spPr>
      </p:pic>
      <p:sp>
        <p:nvSpPr>
          <p:cNvPr id="52" name="Text 42"/>
          <p:cNvSpPr/>
          <p:nvPr/>
        </p:nvSpPr>
        <p:spPr>
          <a:xfrm>
            <a:off x="3172968" y="5294376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Mercado</a:t>
            </a:r>
            <a:endParaRPr lang="en-US" sz="1400" dirty="0"/>
          </a:p>
        </p:txBody>
      </p:sp>
      <p:sp>
        <p:nvSpPr>
          <p:cNvPr id="53" name="Text 43"/>
          <p:cNvSpPr/>
          <p:nvPr/>
        </p:nvSpPr>
        <p:spPr>
          <a:xfrm>
            <a:off x="2834640" y="6419088"/>
            <a:ext cx="45720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 </a:t>
            </a:r>
            <a:r>
              <a:rPr lang="en-US" sz="1050" b="1" dirty="0">
                <a:solidFill>
                  <a:srgbClr val="D5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$9.9B  </a:t>
            </a:r>
            <a:br>
              <a:rPr lang="en-US" sz="1050" b="1" dirty="0">
                <a:solidFill>
                  <a:srgbClr val="D5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b="1" dirty="0">
                <a:solidFill>
                  <a:srgbClr val="D52B1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 </a:t>
            </a:r>
            <a:r>
              <a:rPr lang="en-US" sz="10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$900M   </a:t>
            </a:r>
            <a:br>
              <a:rPr lang="en-US" sz="1050" b="1" dirty="0">
                <a:solidFill>
                  <a:srgbClr val="F4C4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</a:br>
            <a:r>
              <a:rPr lang="en-US" sz="105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 </a:t>
            </a:r>
            <a:r>
              <a:rPr lang="en-US" sz="1050" b="1" dirty="0">
                <a:solidFill>
                  <a:srgbClr val="007A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$90M</a:t>
            </a:r>
          </a:p>
          <a:p>
            <a:pPr marL="0" indent="0">
              <a:buNone/>
            </a:pPr>
            <a:r>
              <a:rPr lang="es-ES" sz="1050" b="0" i="0" dirty="0">
                <a:effectLst/>
                <a:latin typeface="-apple-system"/>
              </a:rPr>
              <a:t>MVM</a:t>
            </a:r>
            <a:r>
              <a:rPr lang="en-US" sz="1050" b="1" i="0" dirty="0">
                <a:effectLst/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  <a:r>
              <a:rPr lang="es-ES" sz="1050" b="0" i="0" dirty="0">
                <a:solidFill>
                  <a:schemeClr val="accent1"/>
                </a:solidFill>
                <a:effectLst/>
                <a:latin typeface="-apple-system"/>
              </a:rPr>
              <a:t>$17.4K</a:t>
            </a:r>
            <a:endParaRPr lang="en-US" sz="1050" dirty="0">
              <a:solidFill>
                <a:schemeClr val="accent1"/>
              </a:solidFill>
            </a:endParaRPr>
          </a:p>
        </p:txBody>
      </p:sp>
      <p:sp>
        <p:nvSpPr>
          <p:cNvPr id="54" name="Text 44"/>
          <p:cNvSpPr/>
          <p:nvPr/>
        </p:nvSpPr>
        <p:spPr>
          <a:xfrm>
            <a:off x="2759461" y="5596128"/>
            <a:ext cx="2743200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9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Mercado freelance en auge (CAGR 17.8%). MVM: freelancers y profesionales jóvenes (diseño, desarrollo, marketing) en Santa Cruz como primer nicho.</a:t>
            </a:r>
            <a:endParaRPr lang="en-US" sz="950" dirty="0"/>
          </a:p>
        </p:txBody>
      </p:sp>
      <p:graphicFrame>
        <p:nvGraphicFramePr>
          <p:cNvPr id="55" name="Chart 0"/>
          <p:cNvGraphicFramePr/>
          <p:nvPr>
            <p:extLst>
              <p:ext uri="{D42A27DB-BD31-4B8C-83A1-F6EECF244321}">
                <p14:modId xmlns:p14="http://schemas.microsoft.com/office/powerpoint/2010/main" val="775685100"/>
              </p:ext>
            </p:extLst>
          </p:nvPr>
        </p:nvGraphicFramePr>
        <p:xfrm>
          <a:off x="5513260" y="5492495"/>
          <a:ext cx="1941576" cy="1572768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0"/>
          </a:graphicData>
        </a:graphic>
      </p:graphicFrame>
      <p:pic>
        <p:nvPicPr>
          <p:cNvPr id="56" name="Image 8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788920" y="6931152"/>
            <a:ext cx="274320" cy="274320"/>
          </a:xfrm>
          <a:prstGeom prst="rect">
            <a:avLst/>
          </a:prstGeom>
        </p:spPr>
      </p:pic>
      <p:sp>
        <p:nvSpPr>
          <p:cNvPr id="57" name="Text 45"/>
          <p:cNvSpPr/>
          <p:nvPr/>
        </p:nvSpPr>
        <p:spPr>
          <a:xfrm>
            <a:off x="3172968" y="6912864"/>
            <a:ext cx="418795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Modelo de Negocio</a:t>
            </a:r>
            <a:endParaRPr lang="en-US" sz="1400" dirty="0"/>
          </a:p>
        </p:txBody>
      </p:sp>
      <p:sp>
        <p:nvSpPr>
          <p:cNvPr id="58" name="Text 46"/>
          <p:cNvSpPr/>
          <p:nvPr/>
        </p:nvSpPr>
        <p:spPr>
          <a:xfrm>
            <a:off x="2843784" y="7178040"/>
            <a:ext cx="4709922" cy="1307592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>
              <a:buFont typeface="+mj-lt"/>
              <a:buAutoNum type="arabicPeriod"/>
            </a:pPr>
            <a:r>
              <a:rPr lang="es-ES" sz="1050" b="0" i="0" dirty="0">
                <a:effectLst/>
                <a:latin typeface="-apple-system"/>
              </a:rPr>
              <a:t>El usuario publica su habilidad o lo que necesita</a:t>
            </a:r>
          </a:p>
          <a:p>
            <a:pPr algn="l">
              <a:buFont typeface="+mj-lt"/>
              <a:buAutoNum type="arabicPeriod"/>
            </a:pPr>
            <a:r>
              <a:rPr lang="es-ES" sz="1050" b="0" i="0" dirty="0">
                <a:effectLst/>
                <a:latin typeface="-apple-system"/>
              </a:rPr>
              <a:t>El algoritmo conecta oferta y demanda automáticamente</a:t>
            </a:r>
          </a:p>
          <a:p>
            <a:pPr algn="l">
              <a:buFont typeface="+mj-lt"/>
              <a:buAutoNum type="arabicPeriod"/>
            </a:pPr>
            <a:r>
              <a:rPr lang="es-ES" sz="1050" b="0" i="0" dirty="0">
                <a:effectLst/>
                <a:latin typeface="-apple-system"/>
              </a:rPr>
              <a:t>Las partes acuerdan el intercambio</a:t>
            </a:r>
          </a:p>
          <a:p>
            <a:pPr algn="l">
              <a:buFont typeface="+mj-lt"/>
              <a:buAutoNum type="arabicPeriod"/>
            </a:pPr>
            <a:r>
              <a:rPr lang="es-ES" sz="1050" b="0" i="0" dirty="0">
                <a:effectLst/>
                <a:latin typeface="-apple-system"/>
              </a:rPr>
              <a:t>Al completarse el servicio, ambas partes se califican mutuamente</a:t>
            </a:r>
          </a:p>
          <a:p>
            <a:pPr algn="l">
              <a:buFont typeface="+mj-lt"/>
              <a:buAutoNum type="arabicPeriod"/>
            </a:pPr>
            <a:r>
              <a:rPr lang="es-ES" sz="1050" b="0" i="0" dirty="0">
                <a:effectLst/>
                <a:latin typeface="-apple-system"/>
              </a:rPr>
              <a:t>AYNAI cobra 10 Bs por persona (20 Bs por conexión) solo si la transacción fue exitosa</a:t>
            </a:r>
          </a:p>
          <a:p>
            <a:pPr algn="l">
              <a:buFont typeface="+mj-lt"/>
              <a:buAutoNum type="arabicPeriod"/>
            </a:pPr>
            <a:r>
              <a:rPr lang="es-ES" sz="1050" b="0" i="0" dirty="0">
                <a:effectLst/>
                <a:latin typeface="-apple-system"/>
              </a:rPr>
              <a:t>El Score de reputación se actualiza en blockchain, generando valor acumulativo para el usuario</a:t>
            </a:r>
          </a:p>
          <a:p>
            <a:pPr algn="l"/>
            <a:endParaRPr lang="es-ES" sz="1050" b="0" i="0" dirty="0">
              <a:effectLst/>
              <a:latin typeface="-apple-system"/>
            </a:endParaRPr>
          </a:p>
        </p:txBody>
      </p:sp>
      <p:pic>
        <p:nvPicPr>
          <p:cNvPr id="59" name="Image 9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794009" y="8690117"/>
            <a:ext cx="274320" cy="274320"/>
          </a:xfrm>
          <a:prstGeom prst="rect">
            <a:avLst/>
          </a:prstGeom>
        </p:spPr>
      </p:pic>
      <p:sp>
        <p:nvSpPr>
          <p:cNvPr id="60" name="Text 47"/>
          <p:cNvSpPr/>
          <p:nvPr/>
        </p:nvSpPr>
        <p:spPr>
          <a:xfrm>
            <a:off x="3063240" y="8540425"/>
            <a:ext cx="4187952" cy="6330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0A00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Roadmap / Escalabilidad</a:t>
            </a:r>
            <a:endParaRPr lang="en-US" sz="1400" dirty="0"/>
          </a:p>
        </p:txBody>
      </p:sp>
      <p:sp>
        <p:nvSpPr>
          <p:cNvPr id="61" name="Shape 48"/>
          <p:cNvSpPr/>
          <p:nvPr/>
        </p:nvSpPr>
        <p:spPr>
          <a:xfrm>
            <a:off x="2926080" y="9079992"/>
            <a:ext cx="3931920" cy="0"/>
          </a:xfrm>
          <a:prstGeom prst="line">
            <a:avLst/>
          </a:prstGeom>
          <a:noFill/>
          <a:ln w="19050">
            <a:solidFill>
              <a:srgbClr val="8A7A6A"/>
            </a:solidFill>
            <a:prstDash val="solid"/>
          </a:ln>
        </p:spPr>
      </p:sp>
      <p:sp>
        <p:nvSpPr>
          <p:cNvPr id="62" name="Shape 49"/>
          <p:cNvSpPr/>
          <p:nvPr/>
        </p:nvSpPr>
        <p:spPr>
          <a:xfrm>
            <a:off x="2817590" y="8979156"/>
            <a:ext cx="164592" cy="164592"/>
          </a:xfrm>
          <a:prstGeom prst="ellipse">
            <a:avLst/>
          </a:prstGeom>
          <a:solidFill>
            <a:srgbClr val="D52B1E"/>
          </a:solidFill>
          <a:ln w="19050">
            <a:solidFill>
              <a:srgbClr val="D52B1E"/>
            </a:solidFill>
            <a:prstDash val="solid"/>
          </a:ln>
        </p:spPr>
      </p:sp>
      <p:sp>
        <p:nvSpPr>
          <p:cNvPr id="63" name="Text 50"/>
          <p:cNvSpPr/>
          <p:nvPr/>
        </p:nvSpPr>
        <p:spPr>
          <a:xfrm>
            <a:off x="2434780" y="923175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1</a:t>
            </a:r>
            <a:endParaRPr lang="en-US" sz="900" dirty="0"/>
          </a:p>
        </p:txBody>
      </p:sp>
      <p:sp>
        <p:nvSpPr>
          <p:cNvPr id="64" name="Text 51"/>
          <p:cNvSpPr/>
          <p:nvPr/>
        </p:nvSpPr>
        <p:spPr>
          <a:xfrm>
            <a:off x="2423160" y="9418004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MVP marketplace</a:t>
            </a:r>
            <a:endParaRPr lang="en-US" sz="750" dirty="0"/>
          </a:p>
        </p:txBody>
      </p:sp>
      <p:sp>
        <p:nvSpPr>
          <p:cNvPr id="65" name="Shape 52"/>
          <p:cNvSpPr/>
          <p:nvPr/>
        </p:nvSpPr>
        <p:spPr>
          <a:xfrm>
            <a:off x="4131061" y="8977726"/>
            <a:ext cx="164592" cy="164592"/>
          </a:xfrm>
          <a:prstGeom prst="ellipse">
            <a:avLst/>
          </a:prstGeom>
          <a:solidFill>
            <a:srgbClr val="D52B1E"/>
          </a:solidFill>
          <a:ln w="19050">
            <a:solidFill>
              <a:srgbClr val="D52B1E"/>
            </a:solidFill>
            <a:prstDash val="solid"/>
          </a:ln>
        </p:spPr>
      </p:sp>
      <p:sp>
        <p:nvSpPr>
          <p:cNvPr id="66" name="Text 53"/>
          <p:cNvSpPr/>
          <p:nvPr/>
        </p:nvSpPr>
        <p:spPr>
          <a:xfrm>
            <a:off x="3766185" y="9204643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2</a:t>
            </a:r>
            <a:endParaRPr lang="en-US" sz="900" dirty="0"/>
          </a:p>
        </p:txBody>
      </p:sp>
      <p:sp>
        <p:nvSpPr>
          <p:cNvPr id="67" name="Text 54"/>
          <p:cNvSpPr/>
          <p:nvPr/>
        </p:nvSpPr>
        <p:spPr>
          <a:xfrm>
            <a:off x="3688080" y="9372600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Algoritmo matching</a:t>
            </a:r>
            <a:endParaRPr lang="en-US" sz="750" dirty="0"/>
          </a:p>
        </p:txBody>
      </p:sp>
      <p:sp>
        <p:nvSpPr>
          <p:cNvPr id="68" name="Shape 55"/>
          <p:cNvSpPr/>
          <p:nvPr/>
        </p:nvSpPr>
        <p:spPr>
          <a:xfrm>
            <a:off x="5454913" y="8965070"/>
            <a:ext cx="164592" cy="164592"/>
          </a:xfrm>
          <a:prstGeom prst="ellipse">
            <a:avLst/>
          </a:prstGeom>
          <a:solidFill>
            <a:srgbClr val="D52B1E"/>
          </a:solidFill>
          <a:ln w="19050">
            <a:solidFill>
              <a:srgbClr val="D52B1E"/>
            </a:solidFill>
            <a:prstDash val="solid"/>
          </a:ln>
        </p:spPr>
      </p:sp>
      <p:sp>
        <p:nvSpPr>
          <p:cNvPr id="69" name="Text 56"/>
          <p:cNvSpPr/>
          <p:nvPr/>
        </p:nvSpPr>
        <p:spPr>
          <a:xfrm>
            <a:off x="5034289" y="9195499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Fase 3</a:t>
            </a:r>
            <a:endParaRPr lang="en-US" sz="900" dirty="0"/>
          </a:p>
        </p:txBody>
      </p:sp>
      <p:sp>
        <p:nvSpPr>
          <p:cNvPr id="70" name="Text 57"/>
          <p:cNvSpPr/>
          <p:nvPr/>
        </p:nvSpPr>
        <p:spPr>
          <a:xfrm>
            <a:off x="4998720" y="9354311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on-chain</a:t>
            </a:r>
            <a:endParaRPr lang="en-US" sz="750" dirty="0"/>
          </a:p>
        </p:txBody>
      </p:sp>
      <p:sp>
        <p:nvSpPr>
          <p:cNvPr id="71" name="Shape 58"/>
          <p:cNvSpPr/>
          <p:nvPr/>
        </p:nvSpPr>
        <p:spPr>
          <a:xfrm>
            <a:off x="6775704" y="9009255"/>
            <a:ext cx="164592" cy="16459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D52B1E"/>
            </a:solidFill>
            <a:prstDash val="solid"/>
          </a:ln>
        </p:spPr>
      </p:sp>
      <p:sp>
        <p:nvSpPr>
          <p:cNvPr id="72" name="Text 59"/>
          <p:cNvSpPr/>
          <p:nvPr/>
        </p:nvSpPr>
        <p:spPr>
          <a:xfrm>
            <a:off x="6328410" y="9171432"/>
            <a:ext cx="1005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1A0A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</a:t>
            </a:r>
            <a:endParaRPr lang="en-US" sz="900" dirty="0"/>
          </a:p>
        </p:txBody>
      </p:sp>
      <p:sp>
        <p:nvSpPr>
          <p:cNvPr id="73" name="Text 60"/>
          <p:cNvSpPr/>
          <p:nvPr/>
        </p:nvSpPr>
        <p:spPr>
          <a:xfrm>
            <a:off x="6273546" y="9345168"/>
            <a:ext cx="10972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750" dirty="0">
                <a:solidFill>
                  <a:srgbClr val="5C3D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B2B</a:t>
            </a:r>
            <a:endParaRPr lang="en-US" sz="750" dirty="0"/>
          </a:p>
        </p:txBody>
      </p:sp>
      <p:sp>
        <p:nvSpPr>
          <p:cNvPr id="74" name="AutoShape 2">
            <a:extLst>
              <a:ext uri="{FF2B5EF4-FFF2-40B4-BE49-F238E27FC236}">
                <a16:creationId xmlns:a16="http://schemas.microsoft.com/office/drawing/2014/main" id="{55148BC5-75D2-08CF-8D14-1A1E03B4031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1885188" y="3447288"/>
            <a:ext cx="2048637" cy="204863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s-ES"/>
          </a:p>
        </p:txBody>
      </p:sp>
      <p:pic>
        <p:nvPicPr>
          <p:cNvPr id="76" name="Picture 75">
            <a:extLst>
              <a:ext uri="{FF2B5EF4-FFF2-40B4-BE49-F238E27FC236}">
                <a16:creationId xmlns:a16="http://schemas.microsoft.com/office/drawing/2014/main" id="{E8938623-EC02-B2E3-5BFA-0BD8C49EAE52}"/>
              </a:ext>
            </a:extLst>
      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550546" y="66321"/>
            <a:ext cx="1271410" cy="1286991"/>
          </a:xfrm>
          <a:prstGeom prst="rect">
            <a:avLst/>
          </a:prstGeom>
        </p:spPr>
      </p:pic>
      <p:pic>
        <p:nvPicPr>
          <p:cNvPr id="75" name="Picture 74">
            <a:extLst>
              <a:ext uri="{FF2B5EF4-FFF2-40B4-BE49-F238E27FC236}">
                <a16:creationId xmlns:a16="http://schemas.microsoft.com/office/drawing/2014/main" id="{70D15F8A-E9CF-4BAC-1CB3-F402ED3E5252}"/>
              </a:ext>
            </a:extLst>
          </p:cNvPr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5422011" y="3931920"/>
            <a:ext cx="2048637" cy="1472184"/>
          </a:xfrm>
          <a:prstGeom prst="rect">
            <a:avLst/>
          </a:prstGeom>
        </p:spPr>
      </p:pic>
      <p:pic>
        <p:nvPicPr>
          <p:cNvPr id="83" name="Picture 82">
            <a:extLst>
              <a:ext uri="{FF2B5EF4-FFF2-40B4-BE49-F238E27FC236}">
                <a16:creationId xmlns:a16="http://schemas.microsoft.com/office/drawing/2014/main" id="{2F99E669-AFDE-A3E0-C7DD-25B78BB767C3}"/>
              </a:ext>
            </a:extLst>
      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92400" y="8119872"/>
            <a:ext cx="377556" cy="36439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1" name="Picture 90">
            <a:extLst>
              <a:ext uri="{FF2B5EF4-FFF2-40B4-BE49-F238E27FC236}">
                <a16:creationId xmlns:a16="http://schemas.microsoft.com/office/drawing/2014/main" id="{BDD37A71-5325-4AEE-C9A6-EB65FED363C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92400" y="8644916"/>
            <a:ext cx="367848" cy="36982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93" name="Picture 92">
            <a:extLst>
              <a:ext uri="{FF2B5EF4-FFF2-40B4-BE49-F238E27FC236}">
                <a16:creationId xmlns:a16="http://schemas.microsoft.com/office/drawing/2014/main" id="{3E9600B3-9699-6346-22AF-CB241BCE5D33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>
            <a:off x="104575" y="7666506"/>
            <a:ext cx="365381" cy="352782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4" name="Text PVM Desc"/>
          <p:cNvSpPr txBox="1"/>
          <p:nvPr/>
        </p:nvSpPr>
        <p:spPr>
          <a:xfrm>
            <a:off x="192024" y="6537960"/>
            <a:ext cx="2148840" cy="8500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850">
                <a:solidFill>
                  <a:srgbClr val="5C3D2E"/>
                </a:solidFill>
                <a:latin typeface="Calibri"/>
              </a:rPr>
              <a:t>Freelancers y profesionales jóvenes (diseño, desarrollo, marketing) en Santa Cruz que ya intercambian servicios de forma informal — primer nicho para validar la plataforma.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204</TotalTime>
  <Words>472</Words>
  <Application>Microsoft Office PowerPoint</Application>
  <PresentationFormat>Custom</PresentationFormat>
  <Paragraphs>62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-apple-system</vt:lpstr>
      <vt:lpstr>Arial</vt:lpstr>
      <vt:lpstr>Calibri</vt:lpstr>
      <vt:lpstr>Cambria</vt:lpstr>
      <vt:lpstr>Office Theme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AynAI One Pager</dc:title>
  <dc:subject>PptxGenJS Presentation</dc:subject>
  <dc:creator>AynAI</dc:creator>
  <cp:lastModifiedBy>Mirko</cp:lastModifiedBy>
  <cp:revision>8</cp:revision>
  <dcterms:created xsi:type="dcterms:W3CDTF">2026-06-26T02:33:52Z</dcterms:created>
  <dcterms:modified xsi:type="dcterms:W3CDTF">2026-06-30T15:47:19Z</dcterms:modified>
</cp:coreProperties>
</file>